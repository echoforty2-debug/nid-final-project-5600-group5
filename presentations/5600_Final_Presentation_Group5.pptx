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48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Opening: Introduce the project as a practical evaluation framework. We are not proposing a new algorithm; we are asking which tabular ML model is most useful for intrusion detection when we account for imbalance, calibration, thresholds, and drift. Time: about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full project in one sentence: we built a reproducible Colab framework to test gradient boosting models for intrusion detection. Emphasize that the scope includes performance, calibration, thresholds, and drift. Time: about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why accuracy is misleading: if attacks are rare, a model can be accurate while missing attacks. Introduce the central tradeoff: recall catches attacks; false positives create analyst fatigue; calibration helps risk scoring. Time: about 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class imbalance figure. The final 2018 sample has 76,186 benign and 23,564 attack samples, or about 23.6 percent attacks. This supports the decision to focus on PR-AUC and recall. Time: about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the implementation stack so the audience understands this was a real end-to-end Colab workflow. Mention the fixed seed and pipeline structure. Time: about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leakage control: fit transformations on training data only and never use test data during training or calibration. Mention the split sizes. Time: about 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bridge from raw data to model behavior. The correlation heatmap shows relationships among features, especially timing/IAT variables. This will later connect to feature importance and drift. Time: about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baseline versus added layers. Baseline is the model comparison under a shared pipeline. Added layers are imbalance handling, attempted tuning, calibration, thresholding, and drift. Be honest that tuning produced nan CV PR-AUC, so we should avoid claiming tuning success. Time: about 65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best summary slide for same-year performance. Emphasize that LightGBM wins narrowly on PR-AUC and recall, and it trains faster. Also clarify that the top models are close, so operational criteria matter. Time: about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ROC vs PR at a high level. ROC looks strong, but PR is a better lens for imbalanced attack detection. The models are close, so the next slides focus on operational outcomes. Time: about 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confusion matrices to explain actual consequences. False negatives are missed attacks. False positives are analyst alerts. XGBoost missed the fewest attacks but had more false positives. Time: about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calibration with a simple example: if the model says 80 percent attack probability, it should be right about 80 percent of the time. Brier score improved after calibration. Time: about 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a threshold is not a model property; it is an operational setting. Low threshold catches more attacks but floods analysts. High threshold reduces alerts but misses more attacks. Time: about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one of the most important slides. Connect feature importance to drift. The model learned timing patterns; those patterns changed across years. XGBoost was most robust but still dropped sharply. Time: about 70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balanced conclusion: LightGBM is strongest same-year, XGBoost best under drift, and calibration/thresholding are essential. Then discuss limitations and future work. Time: about 80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2FC1-4F00-7864-2140-463F11B5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EDE6A-8BF2-B857-23FC-8B31F15A5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FC641-0D15-2426-ED1A-31AC55A9D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up to audience for any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72643-45DE-F044-B82A-D75EE4F6F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4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93C5FD"/>
                </a:solidFill>
              </a:rPr>
              <a:t>COMPARATIVE ANALYSIS OF MODERN TABULAR ML For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803515" y="1143000"/>
            <a:ext cx="108750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Network Intrusion Detection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>
                <a:solidFill>
                  <a:srgbClr val="E0F2FE"/>
                </a:solidFill>
              </a:rPr>
              <a:t>Evaluating gradient boosting models for </a:t>
            </a:r>
            <a:r>
              <a:rPr lang="en-US">
                <a:solidFill>
                  <a:srgbClr val="E0F2FE"/>
                </a:solidFill>
                <a:ea typeface="+mn-lt"/>
                <a:cs typeface="+mn-lt"/>
              </a:rPr>
              <a:t>detecting cyber attacks in network traffic.</a:t>
            </a:r>
            <a:endParaRPr lang="en-US" sz="1800">
              <a:solidFill>
                <a:srgbClr val="E0F2FE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04672" y="3886200"/>
            <a:ext cx="24231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A580C"/>
                </a:solidFill>
              </a:rPr>
              <a:t>CSE-CIC-IDS2018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941832" y="43616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Main dataset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3474720" y="3886200"/>
            <a:ext cx="20116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3121" y="409150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22C55E"/>
                </a:solidFill>
              </a:rPr>
              <a:t>3 Models + SMOTE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3611880" y="4466791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Models compared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5715000" y="3886200"/>
            <a:ext cx="17373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&lt;15 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</a:rPr>
              <a:t>Talk target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5806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Farman H. Sayem · Jace C. Rea · Kunle S. </a:t>
            </a:r>
            <a:r>
              <a:rPr lang="en-US" sz="1300" dirty="0" err="1">
                <a:solidFill>
                  <a:srgbClr val="CBD5E1"/>
                </a:solidFill>
              </a:rPr>
              <a:t>Oguntoye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Group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overview: what we set out to build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4587" y="137329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Core purpose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4160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0F766E"/>
                </a:solidFill>
              </a:rPr>
              <a:t>A reproducible evaluation framework for network intrusion detection models.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45720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Classify network flows as benign or attack.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Compare LightGBM, XGBoost, CatBoost, and SMOTE variant.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Evaluate performance, probability reliability, and drift robustness.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806440" y="1508760"/>
            <a:ext cx="0" cy="3931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What makes this more than a basic model comparison?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47548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Uses metrics that matter for cybersecurity, not just accuracy.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Tests calibration because risk scores must be trustworthy.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</a:rPr>
              <a:t>• Tests drift because traffic changes across time and datasets.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project is about making model evaluation more realistic for security use.</a:t>
            </a:r>
            <a:endParaRPr lang="en-US" sz="1220"/>
          </a:p>
        </p:txBody>
      </p:sp>
      <p:sp>
        <p:nvSpPr>
          <p:cNvPr id="14" name="Shape 12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</a:rPr>
              <a:t>2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relevance: why accuracy is not enough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3"/>
                </a:solidFill>
              </a:rPr>
              <a:t>Intrusion detection is a high-cost imbalance problem.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29718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DC2626"/>
                </a:solidFill>
              </a:rPr>
              <a:t>Missed attack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1024128" y="2880360"/>
            <a:ext cx="26517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>
                <a:solidFill>
                  <a:srgbClr val="111827"/>
                </a:solidFill>
              </a:rPr>
              <a:t>A false negative can mean an intrusion slips through.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2971800" cy="2148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EA580C"/>
                </a:solidFill>
              </a:rPr>
              <a:t>False alarm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4727448" y="2880360"/>
            <a:ext cx="26517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>
                <a:solidFill>
                  <a:srgbClr val="111827"/>
                </a:solidFill>
              </a:rPr>
              <a:t>A false positive adds analyst workload and alert fatigue.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8275320" y="2057400"/>
            <a:ext cx="2971800" cy="2148840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766E"/>
                </a:solidFill>
              </a:rPr>
              <a:t>Risk score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8430768" y="2880360"/>
            <a:ext cx="26517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>
                <a:solidFill>
                  <a:srgbClr val="111827"/>
                </a:solidFill>
              </a:rPr>
              <a:t>A probability only helps if it is calibrated and actionable.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1005840" y="47091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475569"/>
                </a:solidFill>
              </a:rPr>
              <a:t>Metrics used: recall, precision, F1, PR-AUC, FPR, Brier score, and drift performance.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A useful detector has to catch attacks, avoid alert fatigue, and produce reliable risk scores.</a:t>
            </a:r>
            <a:endParaRPr lang="en-US" sz="1220"/>
          </a:p>
        </p:txBody>
      </p:sp>
      <p:sp>
        <p:nvSpPr>
          <p:cNvPr id="19" name="Shape 17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</a:rPr>
              <a:t>3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OVERVIEW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overview: class imbalance in the final 2018 sample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35608"/>
            <a:ext cx="6858000" cy="3703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Class 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0381"/>
            <a:ext cx="6766560" cy="2393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554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Final data used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973568" y="2011680"/>
            <a:ext cx="33375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111827"/>
                </a:solidFill>
              </a:rPr>
              <a:t>• Primary dataset: CSE-CIC-IDS2018.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111827"/>
                </a:solidFill>
              </a:rPr>
              <a:t>• Drift dataset: CIC-IDS2017.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111827"/>
                </a:solidFill>
              </a:rPr>
              <a:t>• 2018 cleaned set: 99,750 rows.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111827"/>
                </a:solidFill>
              </a:rPr>
              <a:t>• 2017 cleaned set: 48,902 rows.</a:t>
            </a:r>
            <a:endParaRPr lang="en-US" sz="1450"/>
          </a:p>
        </p:txBody>
      </p:sp>
      <p:sp>
        <p:nvSpPr>
          <p:cNvPr id="10" name="Text 7"/>
          <p:cNvSpPr/>
          <p:nvPr/>
        </p:nvSpPr>
        <p:spPr>
          <a:xfrm>
            <a:off x="7909560" y="4160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Why it matters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7973568" y="4572000"/>
            <a:ext cx="3337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111827"/>
                </a:solidFill>
              </a:rPr>
              <a:t>The class split is not extreme, but attacks are still the minority class. PR-AUC and recall are more informative than accuracy.</a:t>
            </a:r>
            <a:endParaRPr lang="en-US" sz="1420"/>
          </a:p>
        </p:txBody>
      </p:sp>
      <p:sp>
        <p:nvSpPr>
          <p:cNvPr id="12" name="Shape 9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model must learn attack behavior from a smaller attack class, so imbalance-aware evaluation matters.</a:t>
            </a:r>
            <a:endParaRPr lang="en-US" sz="122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3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</a:rPr>
              <a:t>4</a:t>
            </a:r>
            <a:endParaRPr lang="en-US" sz="7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setup and Colab code stack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Environment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50292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Google Colab + Google Drive-mounted datasets.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Fixed random seed: 42 for reproducibility.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Large CSVs streamed and sampled to stay within Colab memory.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620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Python libraries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07720" y="3310128"/>
            <a:ext cx="5029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30">
                <a:solidFill>
                  <a:srgbClr val="111827"/>
                </a:solidFill>
              </a:rPr>
              <a:t>• pandas / NumPy for data handling.</a:t>
            </a:r>
            <a:endParaRPr lang="en-US" sz="1430"/>
          </a:p>
          <a:p>
            <a:pPr marL="0" indent="0">
              <a:buNone/>
            </a:pPr>
            <a:r>
              <a:rPr lang="en-US" sz="1430">
                <a:solidFill>
                  <a:srgbClr val="111827"/>
                </a:solidFill>
              </a:rPr>
              <a:t>• scikit-learn for splitting, pipelines, metrics, calibration.</a:t>
            </a:r>
            <a:endParaRPr lang="en-US" sz="1430"/>
          </a:p>
          <a:p>
            <a:pPr marL="0" indent="0">
              <a:buNone/>
            </a:pPr>
            <a:r>
              <a:rPr lang="en-US" sz="1430">
                <a:solidFill>
                  <a:srgbClr val="111827"/>
                </a:solidFill>
              </a:rPr>
              <a:t>• imbalanced-learn for SMOTE.</a:t>
            </a:r>
            <a:endParaRPr lang="en-US" sz="1430"/>
          </a:p>
          <a:p>
            <a:pPr marL="0" indent="0">
              <a:buNone/>
            </a:pPr>
            <a:r>
              <a:rPr lang="en-US" sz="1430">
                <a:solidFill>
                  <a:srgbClr val="111827"/>
                </a:solidFill>
              </a:rPr>
              <a:t>• LightGBM, XGBoost, CatBoost for model training.</a:t>
            </a:r>
            <a:endParaRPr lang="en-US" sz="143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914400" cy="59436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Pipeline layout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498080" y="2011680"/>
            <a:ext cx="37490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F766E"/>
                </a:solidFill>
              </a:rPr>
              <a:t>Load → Clean → Align features → Split → Train → Evaluate → Calibrate → Threshold → Drift test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543800" y="4343400"/>
            <a:ext cx="3566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111827"/>
                </a:solidFill>
              </a:rPr>
              <a:t>Design goal: every transformation is reusable and fitted only where appropriate to avoid leakage.</a:t>
            </a:r>
            <a:endParaRPr lang="en-US" sz="1450"/>
          </a:p>
        </p:txBody>
      </p:sp>
      <p:sp>
        <p:nvSpPr>
          <p:cNvPr id="14" name="Shape 12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0B1F33"/>
                </a:solidFill>
              </a:rPr>
              <a:t>Takeaway: </a:t>
            </a:r>
            <a:r>
              <a:rPr lang="en-US" sz="1200">
                <a:solidFill>
                  <a:srgbClr val="0B1F33"/>
                </a:solidFill>
              </a:rPr>
              <a:t>The notebook was built as a reproducible pipeline for a reliable system rather than a one-off model script.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64748B"/>
                </a:solidFill>
              </a:rPr>
              <a:t>5</a:t>
            </a:r>
            <a:endParaRPr lang="en-US" sz="75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1EBBFFA-F669-ECDB-4AF5-215CA9391C35}"/>
              </a:ext>
            </a:extLst>
          </p:cNvPr>
          <p:cNvSpPr/>
          <p:nvPr/>
        </p:nvSpPr>
        <p:spPr>
          <a:xfrm>
            <a:off x="735517" y="424459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B1F33"/>
                </a:solidFill>
              </a:rPr>
              <a:t>Challenges with real data</a:t>
            </a:r>
            <a:endParaRPr lang="en-US" sz="160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9F6294A-4E24-F52F-A342-F5C4DBBBC7FC}"/>
              </a:ext>
            </a:extLst>
          </p:cNvPr>
          <p:cNvSpPr/>
          <p:nvPr/>
        </p:nvSpPr>
        <p:spPr>
          <a:xfrm>
            <a:off x="781237" y="4701791"/>
            <a:ext cx="49834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Streamed multi-GB CSVs in chunks to avoid crashes.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Stripped inconsistent column whitespace and bad rows.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Binarized labels: Benign = 0, all attacks = 1.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Aligned only shared usable features across 2018 and 2017.</a:t>
            </a:r>
            <a:endParaRPr lang="en-US" sz="148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SETUP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and split design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Cleaning choices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9834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Replaced infinite values with missing values.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Removed duplicate rows.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Dropped identifiers like IPs, ports, timestamps, and flow IDs.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Clipped extreme outliers at the 99.9th percentile.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Final modeling setup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8920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23 shared numeric features after 2018/2017 alignment.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70/15/15 stratified train/validation/test split.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Preprocessor fit only on training data.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11827"/>
                </a:solidFill>
              </a:rPr>
              <a:t>• 2017 drift set transformed with the 2018-fitted preprocessor.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1920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</a:rPr>
              <a:t>69,824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051560" y="4910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Train rows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19659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766E"/>
                </a:solidFill>
              </a:rPr>
              <a:t>14,963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3246120" y="49103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Validation rows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5303520" y="4434840"/>
            <a:ext cx="1828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A580C"/>
                </a:solidFill>
              </a:rPr>
              <a:t>14,963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5440680" y="4910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Test rows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7406640" y="4434840"/>
            <a:ext cx="15544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803D"/>
                </a:solidFill>
              </a:rPr>
              <a:t>23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7543800" y="4910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Features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9235440" y="4434840"/>
            <a:ext cx="19202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7260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DC2626"/>
                </a:solidFill>
              </a:rPr>
              <a:t>~23.6%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9372600" y="4910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Attack rate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split and preprocessing choices were designed to reduce leakage and keep comparisons fair.</a:t>
            </a:r>
            <a:endParaRPr lang="en-US" sz="1220"/>
          </a:p>
        </p:txBody>
      </p:sp>
      <p:sp>
        <p:nvSpPr>
          <p:cNvPr id="27" name="Shape 25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UNDERSTANDING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timing features were strongly related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07592"/>
            <a:ext cx="7223760" cy="44805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Feature Correlation Heat 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95" y="1353312"/>
            <a:ext cx="579553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What to notice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275320" y="1920240"/>
            <a:ext cx="3017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60">
                <a:solidFill>
                  <a:srgbClr val="111827"/>
                </a:solidFill>
              </a:rPr>
              <a:t>• Several IAT timing features are highly correlated.</a:t>
            </a:r>
            <a:endParaRPr lang="en-US" sz="1460"/>
          </a:p>
          <a:p>
            <a:pPr marL="0" indent="0">
              <a:buNone/>
            </a:pPr>
            <a:r>
              <a:rPr lang="en-US" sz="1460">
                <a:solidFill>
                  <a:srgbClr val="111827"/>
                </a:solidFill>
              </a:rPr>
              <a:t>• Flow IAT Min and Flow IAT Mean are nearly redundant.</a:t>
            </a:r>
            <a:endParaRPr lang="en-US" sz="1460"/>
          </a:p>
          <a:p>
            <a:pPr marL="0" indent="0">
              <a:buNone/>
            </a:pPr>
            <a:r>
              <a:rPr lang="en-US" sz="1460">
                <a:solidFill>
                  <a:srgbClr val="111827"/>
                </a:solidFill>
              </a:rPr>
              <a:t>• Active Mean and Active Max also move together strongly.</a:t>
            </a:r>
            <a:endParaRPr lang="en-US" sz="1460"/>
          </a:p>
        </p:txBody>
      </p:sp>
      <p:sp>
        <p:nvSpPr>
          <p:cNvPr id="10" name="Text 7"/>
          <p:cNvSpPr/>
          <p:nvPr/>
        </p:nvSpPr>
        <p:spPr>
          <a:xfrm>
            <a:off x="822960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Why it matters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8275320" y="4645152"/>
            <a:ext cx="30175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30">
                <a:solidFill>
                  <a:srgbClr val="111827"/>
                </a:solidFill>
              </a:rPr>
              <a:t>The model is likely learning groups of related timing behavior rather than one isolated feature at a time.</a:t>
            </a:r>
            <a:endParaRPr lang="en-US" sz="1430"/>
          </a:p>
        </p:txBody>
      </p:sp>
      <p:sp>
        <p:nvSpPr>
          <p:cNvPr id="12" name="Shape 9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EDA suggested timing behavior would be a major signal for intrusion detection.</a:t>
            </a:r>
            <a:endParaRPr lang="en-US" sz="122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3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DESIGN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design: baseline comparison plus evaluation layers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Baseline model comparison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52578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LightGBM: fast gradient boosting for tabular data.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XGBoost: strong regularized boosting baseline.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CatBoost: robust out-of-box boosting comparison.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LightGBM + SMOTE: oversampling test against class weighting.</a:t>
            </a:r>
            <a:endParaRPr lang="en-US" sz="148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What we added beyond baseline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92240" y="1847088"/>
            <a:ext cx="49834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Class weighting to penalize missed attacks more heavily.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RandomizedSearchCV attempted with PR-AUC objective.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Calibration with Platt and Isotonic methods.</a:t>
            </a:r>
            <a:endParaRPr lang="en-US" sz="1480"/>
          </a:p>
          <a:p>
            <a:pPr marL="0" indent="0">
              <a:buNone/>
            </a:pPr>
            <a:r>
              <a:rPr lang="en-US" sz="1480">
                <a:solidFill>
                  <a:srgbClr val="111827"/>
                </a:solidFill>
              </a:rPr>
              <a:t>• Threshold sweep and cross-year drift testing.</a:t>
            </a:r>
            <a:endParaRPr lang="en-US" sz="1480"/>
          </a:p>
        </p:txBody>
      </p:sp>
      <p:sp>
        <p:nvSpPr>
          <p:cNvPr id="11" name="Text 9"/>
          <p:cNvSpPr/>
          <p:nvPr/>
        </p:nvSpPr>
        <p:spPr>
          <a:xfrm>
            <a:off x="2446020" y="4224527"/>
            <a:ext cx="6812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Because the tuning cell reported nan CV PR-AUC, avoid overclaiming “tuning improved the model.” Treat the final models as final evaluated / search-selected versions.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project compared baseline models, then tested the choices that matter in real intrusion detection.</a:t>
            </a:r>
            <a:endParaRPr lang="en-US" sz="1220"/>
          </a:p>
        </p:txBody>
      </p:sp>
      <p:sp>
        <p:nvSpPr>
          <p:cNvPr id="14" name="Shape 12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overall model performance on 2018 test data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89304"/>
            <a:ext cx="7498080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Model Performance 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85" y="1335024"/>
            <a:ext cx="6486870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1508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Main comparison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503920" y="1920240"/>
            <a:ext cx="27432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80">
                <a:solidFill>
                  <a:srgbClr val="111827"/>
                </a:solidFill>
              </a:rPr>
              <a:t>• LightGBM base: best PR-AUC at 0.918 and recall at 0.851.</a:t>
            </a:r>
            <a:endParaRPr lang="en-US" sz="1280"/>
          </a:p>
          <a:p>
            <a:pPr marL="0" indent="0">
              <a:buNone/>
            </a:pPr>
            <a:r>
              <a:rPr lang="en-US" sz="1280">
                <a:solidFill>
                  <a:srgbClr val="111827"/>
                </a:solidFill>
              </a:rPr>
              <a:t>• XGBoost was nearly tied: PR-AUC 0.917 and recall 0.850.</a:t>
            </a:r>
            <a:endParaRPr lang="en-US" sz="1280"/>
          </a:p>
          <a:p>
            <a:pPr marL="0" indent="0">
              <a:buNone/>
            </a:pPr>
            <a:r>
              <a:rPr lang="en-US" sz="1280">
                <a:solidFill>
                  <a:srgbClr val="111827"/>
                </a:solidFill>
              </a:rPr>
              <a:t>• CatBoost was competitive but slightly lower PR-AUC.</a:t>
            </a:r>
            <a:endParaRPr lang="en-US" sz="1280"/>
          </a:p>
          <a:p>
            <a:pPr marL="0" indent="0">
              <a:buNone/>
            </a:pPr>
            <a:r>
              <a:rPr lang="en-US" sz="1280">
                <a:solidFill>
                  <a:srgbClr val="111827"/>
                </a:solidFill>
              </a:rPr>
              <a:t>• SMOTE did not clearly outperform class weighting.</a:t>
            </a:r>
            <a:endParaRPr lang="en-US" sz="1280"/>
          </a:p>
        </p:txBody>
      </p:sp>
      <p:sp>
        <p:nvSpPr>
          <p:cNvPr id="11" name="Shape 8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LightGBM was the strongest same-year base model, but XGBoost was extremely close.</a:t>
            </a:r>
            <a:endParaRPr lang="en-US" sz="1220"/>
          </a:p>
        </p:txBody>
      </p:sp>
      <p:sp>
        <p:nvSpPr>
          <p:cNvPr id="13" name="Shape 10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5" name="Text 12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ROC and PR curves show strong but similar ranking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80161"/>
            <a:ext cx="7543800" cy="4489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Model 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01343"/>
            <a:ext cx="7452360" cy="31753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How to read this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503920" y="1965960"/>
            <a:ext cx="274320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111827"/>
                </a:solidFill>
              </a:rPr>
              <a:t>• ROC-AUC is high for all models, around 0.952–0.953.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111827"/>
                </a:solidFill>
              </a:rPr>
              <a:t>• PR-AUC is more important because attacks are the minority class.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111827"/>
                </a:solidFill>
              </a:rPr>
              <a:t>• Curves are close, so model choice alone is not the full story.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845820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766E"/>
                </a:solidFill>
              </a:rPr>
              <a:t>Why PR-AUC matters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503920" y="495604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>
                <a:solidFill>
                  <a:srgbClr val="111827"/>
                </a:solidFill>
              </a:rPr>
              <a:t>It focuses on how well the model finds attacks while controlling false alarms.</a:t>
            </a:r>
            <a:endParaRPr lang="en-US" sz="1280"/>
          </a:p>
        </p:txBody>
      </p:sp>
      <p:sp>
        <p:nvSpPr>
          <p:cNvPr id="12" name="Shape 9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models rank attacks well on 2018 data, but calibration and thresholds determine practical usefulness.</a:t>
            </a:r>
            <a:endParaRPr lang="en-US" sz="122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3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operational impact at the default 0.5 threshold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16151"/>
            <a:ext cx="7818120" cy="455370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Confusion 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4731"/>
            <a:ext cx="7726680" cy="26416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1417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At threshold = 0.5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8641080" y="1920240"/>
            <a:ext cx="2240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7824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</a:rPr>
              <a:t>534</a:t>
            </a:r>
            <a:endParaRPr lang="en-US" sz="2000"/>
          </a:p>
        </p:txBody>
      </p:sp>
      <p:sp>
        <p:nvSpPr>
          <p:cNvPr id="11" name="Text 8"/>
          <p:cNvSpPr/>
          <p:nvPr/>
        </p:nvSpPr>
        <p:spPr>
          <a:xfrm>
            <a:off x="8778240" y="23957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LightGBM missed attacks</a:t>
            </a:r>
            <a:endParaRPr lang="en-US" sz="850"/>
          </a:p>
        </p:txBody>
      </p:sp>
      <p:sp>
        <p:nvSpPr>
          <p:cNvPr id="12" name="Shape 9"/>
          <p:cNvSpPr/>
          <p:nvPr/>
        </p:nvSpPr>
        <p:spPr>
          <a:xfrm>
            <a:off x="8641080" y="2816352"/>
            <a:ext cx="2240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78240" y="29077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766E"/>
                </a:solidFill>
              </a:rPr>
              <a:t>528</a:t>
            </a:r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8778240" y="3291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XGBoost missed attacks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8641080" y="3712464"/>
            <a:ext cx="2240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778240" y="3803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A580C"/>
                </a:solidFill>
              </a:rPr>
              <a:t>547</a:t>
            </a:r>
            <a:endParaRPr lang="en-US" sz="2000"/>
          </a:p>
        </p:txBody>
      </p:sp>
      <p:sp>
        <p:nvSpPr>
          <p:cNvPr id="17" name="Text 14"/>
          <p:cNvSpPr/>
          <p:nvPr/>
        </p:nvSpPr>
        <p:spPr>
          <a:xfrm>
            <a:off x="8778240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75569"/>
                </a:solidFill>
              </a:rPr>
              <a:t>CatBoost missed attacks</a:t>
            </a:r>
            <a:endParaRPr lang="en-US" sz="850"/>
          </a:p>
        </p:txBody>
      </p:sp>
      <p:sp>
        <p:nvSpPr>
          <p:cNvPr id="18" name="Text 15"/>
          <p:cNvSpPr/>
          <p:nvPr/>
        </p:nvSpPr>
        <p:spPr>
          <a:xfrm>
            <a:off x="8641080" y="4892040"/>
            <a:ext cx="2697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60">
                <a:solidFill>
                  <a:srgbClr val="111827"/>
                </a:solidFill>
              </a:rPr>
              <a:t>XGBoost caught slightly more attacks; CatBoost created slightly fewer false positives.</a:t>
            </a:r>
            <a:endParaRPr lang="en-US" sz="1260"/>
          </a:p>
        </p:txBody>
      </p:sp>
      <p:sp>
        <p:nvSpPr>
          <p:cNvPr id="19" name="Shape 16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Confusion matrices translate metrics into missed attacks and analyst workload.</a:t>
            </a:r>
            <a:endParaRPr lang="en-US" sz="1220"/>
          </a:p>
        </p:txBody>
      </p:sp>
      <p:sp>
        <p:nvSpPr>
          <p:cNvPr id="21" name="Shape 18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23" name="Text 20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calibration made risk scores more reliable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2648" y="1280160"/>
            <a:ext cx="7955280" cy="4507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Probability 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91891"/>
            <a:ext cx="7863840" cy="27942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0" y="1536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What changed?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961120" y="1993392"/>
            <a:ext cx="22860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10">
                <a:solidFill>
                  <a:srgbClr val="111827"/>
                </a:solidFill>
              </a:rPr>
              <a:t>• Brier score measures probability error; lower is better.</a:t>
            </a:r>
            <a:endParaRPr lang="en-US" sz="1310"/>
          </a:p>
          <a:p>
            <a:pPr marL="0" indent="0">
              <a:buNone/>
            </a:pPr>
            <a:r>
              <a:rPr lang="en-US" sz="1310">
                <a:solidFill>
                  <a:srgbClr val="111827"/>
                </a:solidFill>
              </a:rPr>
              <a:t>• LightGBM + Isotonic had the best Brier score: 0.0489.</a:t>
            </a:r>
            <a:endParaRPr lang="en-US" sz="1310"/>
          </a:p>
          <a:p>
            <a:pPr marL="0" indent="0">
              <a:buNone/>
            </a:pPr>
            <a:r>
              <a:rPr lang="en-US" sz="1310">
                <a:solidFill>
                  <a:srgbClr val="111827"/>
                </a:solidFill>
              </a:rPr>
              <a:t>• Calibration improved risk-score reliability.</a:t>
            </a:r>
            <a:endParaRPr lang="en-US" sz="1310"/>
          </a:p>
        </p:txBody>
      </p:sp>
      <p:sp>
        <p:nvSpPr>
          <p:cNvPr id="10" name="Text 7"/>
          <p:cNvSpPr/>
          <p:nvPr/>
        </p:nvSpPr>
        <p:spPr>
          <a:xfrm>
            <a:off x="891540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580C"/>
                </a:solidFill>
              </a:rPr>
              <a:t>Tradeoff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961120" y="4928616"/>
            <a:ext cx="2286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>
                <a:solidFill>
                  <a:srgbClr val="111827"/>
                </a:solidFill>
              </a:rPr>
              <a:t>Calibration can make the model more conservative at the same 0.5 threshold, which may reduce recall.</a:t>
            </a:r>
            <a:endParaRPr lang="en-US" sz="1240"/>
          </a:p>
        </p:txBody>
      </p:sp>
      <p:sp>
        <p:nvSpPr>
          <p:cNvPr id="12" name="Shape 9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Calibration helps when probabilities are used for risk scoring, not just yes/no classification.</a:t>
            </a:r>
            <a:endParaRPr lang="en-US" sz="122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6" name="Text 13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threshold tuning controls the recall vs false-alarm tradeoff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2648" y="1280160"/>
            <a:ext cx="7909560" cy="448970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Threshold 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01020"/>
            <a:ext cx="7818120" cy="27759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Two operating points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82396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5803D"/>
                </a:solidFill>
              </a:rPr>
              <a:t>Max F1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8869680" y="2331720"/>
            <a:ext cx="23774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t ≈ 0.709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F1 = 0.8755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Precision = 0.9334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Recall = 0.8243</a:t>
            </a:r>
            <a:endParaRPr lang="en-US" sz="1250"/>
          </a:p>
        </p:txBody>
      </p:sp>
      <p:sp>
        <p:nvSpPr>
          <p:cNvPr id="11" name="Text 8"/>
          <p:cNvSpPr/>
          <p:nvPr/>
        </p:nvSpPr>
        <p:spPr>
          <a:xfrm>
            <a:off x="8823960" y="3520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DC2626"/>
                </a:solidFill>
              </a:rPr>
              <a:t>High recall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886968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t ≈ 0.035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Recall = 0.9675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111827"/>
                </a:solidFill>
              </a:rPr>
              <a:t>FPR = 0.4745</a:t>
            </a:r>
            <a:endParaRPr lang="en-US" sz="1250"/>
          </a:p>
        </p:txBody>
      </p:sp>
      <p:sp>
        <p:nvSpPr>
          <p:cNvPr id="13" name="Text 10"/>
          <p:cNvSpPr/>
          <p:nvPr/>
        </p:nvSpPr>
        <p:spPr>
          <a:xfrm>
            <a:off x="8823960" y="4892040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>
                <a:solidFill>
                  <a:srgbClr val="111827"/>
                </a:solidFill>
              </a:rPr>
              <a:t>Interpretation: high recall catches more attacks, but creates far more false alarms.</a:t>
            </a:r>
            <a:endParaRPr lang="en-US" sz="1230"/>
          </a:p>
        </p:txBody>
      </p:sp>
      <p:sp>
        <p:nvSpPr>
          <p:cNvPr id="14" name="Shape 11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The best threshold depends on risk tolerance and analyst capacity.</a:t>
            </a:r>
            <a:endParaRPr lang="en-US" sz="1220"/>
          </a:p>
        </p:txBody>
      </p:sp>
      <p:sp>
        <p:nvSpPr>
          <p:cNvPr id="16" name="Shape 1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8" name="Text 15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drift exposed the biggest weakness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76072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Drift 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7564"/>
            <a:ext cx="5669280" cy="18769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280160"/>
            <a:ext cx="525780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Top 20 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146" y="1325880"/>
            <a:ext cx="4151107" cy="288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4498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3"/>
                </a:solidFill>
              </a:rPr>
              <a:t>Connection</a:t>
            </a:r>
            <a:endParaRPr lang="en-US" sz="1500"/>
          </a:p>
        </p:txBody>
      </p:sp>
      <p:sp>
        <p:nvSpPr>
          <p:cNvPr id="11" name="Text 7"/>
          <p:cNvSpPr/>
          <p:nvPr/>
        </p:nvSpPr>
        <p:spPr>
          <a:xfrm>
            <a:off x="2240280" y="4434840"/>
            <a:ext cx="4343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40">
                <a:solidFill>
                  <a:srgbClr val="111827"/>
                </a:solidFill>
              </a:rPr>
              <a:t>The model relied heavily on IAT/timing features. Those same features shifted most between 2018 and 2017, which helps explain the severe cross-year drop.</a:t>
            </a:r>
            <a:endParaRPr lang="en-US" sz="1340"/>
          </a:p>
        </p:txBody>
      </p:sp>
      <p:sp>
        <p:nvSpPr>
          <p:cNvPr id="12" name="Text 8"/>
          <p:cNvSpPr/>
          <p:nvPr/>
        </p:nvSpPr>
        <p:spPr>
          <a:xfrm>
            <a:off x="6903720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3"/>
                </a:solidFill>
              </a:rPr>
              <a:t>PR-AUC under drift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8961120" y="4370832"/>
            <a:ext cx="2240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70">
                <a:solidFill>
                  <a:srgbClr val="111827"/>
                </a:solidFill>
              </a:rPr>
              <a:t>LightGBM: 0.914 → 0.260</a:t>
            </a:r>
            <a:endParaRPr lang="en-US" sz="1270"/>
          </a:p>
          <a:p>
            <a:pPr marL="0" indent="0">
              <a:buNone/>
            </a:pPr>
            <a:r>
              <a:rPr lang="en-US" sz="1270">
                <a:solidFill>
                  <a:srgbClr val="111827"/>
                </a:solidFill>
              </a:rPr>
              <a:t>XGBoost: 0.916 → 0.335</a:t>
            </a:r>
            <a:endParaRPr lang="en-US" sz="1270"/>
          </a:p>
          <a:p>
            <a:pPr marL="0" indent="0">
              <a:buNone/>
            </a:pPr>
            <a:r>
              <a:rPr lang="en-US" sz="1270">
                <a:solidFill>
                  <a:srgbClr val="111827"/>
                </a:solidFill>
              </a:rPr>
              <a:t>CatBoost: 0.910 → 0.255</a:t>
            </a:r>
            <a:endParaRPr lang="en-US" sz="1270"/>
          </a:p>
        </p:txBody>
      </p:sp>
      <p:sp>
        <p:nvSpPr>
          <p:cNvPr id="14" name="Shape 10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Strong same-year results did not guarantee cross-year robustness; XGBoost degraded least, but all models degraded.</a:t>
            </a:r>
            <a:endParaRPr lang="en-US" sz="1220"/>
          </a:p>
        </p:txBody>
      </p:sp>
      <p:sp>
        <p:nvSpPr>
          <p:cNvPr id="16" name="Shape 12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8" name="Text 14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Challenges, limitations, and future work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Challenges / limitations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5120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Dataset size required sampling and chunked loading.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2018 and 2017 feature formats did not align perfectly.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Binary labels hide differences between attack types.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Random split is less realistic than a time-based deployment split.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Tuning output had nan CV PR-AUC, so tuning claims should be cautious.</a:t>
            </a:r>
            <a:endParaRPr lang="en-US" sz="138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3"/>
                </a:solidFill>
              </a:rPr>
              <a:t>Future work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9834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Fix and rerun hyperparameter tuning.</a:t>
            </a:r>
            <a:endParaRPr lang="en-US" sz="1380"/>
          </a:p>
          <a:p>
            <a:r>
              <a:rPr lang="en-US" sz="1350">
                <a:solidFill>
                  <a:srgbClr val="111827"/>
                </a:solidFill>
              </a:rPr>
              <a:t>• Test temporal train/test splits (</a:t>
            </a:r>
            <a:r>
              <a:rPr lang="en-US" sz="1350">
                <a:solidFill>
                  <a:srgbClr val="111827"/>
                </a:solidFill>
                <a:ea typeface="+mn-lt"/>
                <a:cs typeface="+mn-lt"/>
              </a:rPr>
              <a:t>train on earlier dates, test on later)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Expand from binary to multi-class attack classification.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Add live drift monitoring and retraining triggers.</a:t>
            </a:r>
            <a:endParaRPr lang="en-US" sz="1380"/>
          </a:p>
          <a:p>
            <a:pPr marL="0" indent="0">
              <a:buNone/>
            </a:pPr>
            <a:r>
              <a:rPr lang="en-US" sz="1380">
                <a:solidFill>
                  <a:srgbClr val="111827"/>
                </a:solidFill>
              </a:rPr>
              <a:t>• Evaluate thresholds based on analyst workload constraints.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822960" y="4828032"/>
            <a:ext cx="10607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1F33"/>
                </a:solidFill>
              </a:rPr>
              <a:t>Final answer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2423160" y="5074920"/>
            <a:ext cx="8823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60">
                <a:solidFill>
                  <a:srgbClr val="111827"/>
                </a:solidFill>
              </a:rPr>
              <a:t>LightGBM was the best same-year speed/performance choice; XGBoost was most robust under drift; calibration and threshold tuning are essential before operational use.</a:t>
            </a:r>
            <a:endParaRPr lang="en-US" sz="1460"/>
          </a:p>
        </p:txBody>
      </p:sp>
      <p:sp>
        <p:nvSpPr>
          <p:cNvPr id="13" name="Shape 11"/>
          <p:cNvSpPr/>
          <p:nvPr/>
        </p:nvSpPr>
        <p:spPr>
          <a:xfrm>
            <a:off x="713232" y="5897880"/>
            <a:ext cx="10835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60076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>
                <a:solidFill>
                  <a:srgbClr val="0B1F33"/>
                </a:solidFill>
              </a:rPr>
              <a:t>Takeaway: </a:t>
            </a:r>
            <a:r>
              <a:rPr lang="en-US" sz="1220">
                <a:solidFill>
                  <a:srgbClr val="0B1F33"/>
                </a:solidFill>
              </a:rPr>
              <a:t>Practical intrusion detection needs model selection, calibration, thresholding, and drift monitoring together.</a:t>
            </a:r>
            <a:endParaRPr lang="en-US" sz="1220"/>
          </a:p>
        </p:txBody>
      </p:sp>
      <p:sp>
        <p:nvSpPr>
          <p:cNvPr id="15" name="Shape 13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601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Group 5 · Network Intrusion Detection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11201400" y="66019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57579-38A0-5BD3-252E-A9AB2EED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F48F1C3-8971-0142-A317-D48E9FB195C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A4A0C1-D725-F678-06BA-8CD23D96C556}"/>
              </a:ext>
            </a:extLst>
          </p:cNvPr>
          <p:cNvSpPr/>
          <p:nvPr/>
        </p:nvSpPr>
        <p:spPr>
          <a:xfrm>
            <a:off x="658473" y="2743200"/>
            <a:ext cx="108750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Any Questions?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4256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2211</Words>
  <Application>Microsoft Office PowerPoint</Application>
  <PresentationFormat>Widescreen</PresentationFormat>
  <Paragraphs>248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Group 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Modern Tabular ML for Network Intrusion Detection</dc:title>
  <dc:subject>Network Intrusion Detection Project</dc:subject>
  <dc:creator>jcrea@iastate.edu</dc:creator>
  <cp:lastModifiedBy>Jace Rea</cp:lastModifiedBy>
  <cp:revision>45</cp:revision>
  <dcterms:created xsi:type="dcterms:W3CDTF">2026-05-06T00:03:30Z</dcterms:created>
  <dcterms:modified xsi:type="dcterms:W3CDTF">2026-05-06T17:15:37Z</dcterms:modified>
</cp:coreProperties>
</file>